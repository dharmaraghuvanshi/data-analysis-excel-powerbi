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4"/>
  </p:sldMasterIdLst>
  <p:sldIdLst>
    <p:sldId id="257" r:id="rId5"/>
    <p:sldId id="258" r:id="rId6"/>
    <p:sldId id="259" r:id="rId7"/>
    <p:sldId id="265" r:id="rId8"/>
    <p:sldId id="260" r:id="rId9"/>
    <p:sldId id="261" r:id="rId10"/>
    <p:sldId id="262" r:id="rId11"/>
    <p:sldId id="263" r:id="rId12"/>
    <p:sldId id="26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rma Raghuvanshi" userId="d9dff847aaf73f3a" providerId="LiveId" clId="{FA4AE155-AC21-42FB-A64F-7F0884DCF8E0}"/>
    <pc:docChg chg="custSel modSld sldOrd">
      <pc:chgData name="Dharma Raghuvanshi" userId="d9dff847aaf73f3a" providerId="LiveId" clId="{FA4AE155-AC21-42FB-A64F-7F0884DCF8E0}" dt="2026-08-10T08:39:53.777" v="1881" actId="20577"/>
      <pc:docMkLst>
        <pc:docMk/>
      </pc:docMkLst>
      <pc:sldChg chg="addSp modSp mod">
        <pc:chgData name="Dharma Raghuvanshi" userId="d9dff847aaf73f3a" providerId="LiveId" clId="{FA4AE155-AC21-42FB-A64F-7F0884DCF8E0}" dt="2026-08-10T08:28:14.725" v="1291" actId="404"/>
        <pc:sldMkLst>
          <pc:docMk/>
          <pc:sldMk cId="2031869651" sldId="258"/>
        </pc:sldMkLst>
        <pc:spChg chg="add mod">
          <ac:chgData name="Dharma Raghuvanshi" userId="d9dff847aaf73f3a" providerId="LiveId" clId="{FA4AE155-AC21-42FB-A64F-7F0884DCF8E0}" dt="2026-08-10T08:28:14.725" v="1291" actId="404"/>
          <ac:spMkLst>
            <pc:docMk/>
            <pc:sldMk cId="2031869651" sldId="258"/>
            <ac:spMk id="6" creationId="{77205E54-3373-EF59-7900-F980314096FF}"/>
          </ac:spMkLst>
        </pc:spChg>
      </pc:sldChg>
      <pc:sldChg chg="addSp delSp modSp mod">
        <pc:chgData name="Dharma Raghuvanshi" userId="d9dff847aaf73f3a" providerId="LiveId" clId="{FA4AE155-AC21-42FB-A64F-7F0884DCF8E0}" dt="2026-08-10T07:54:04.205" v="16" actId="478"/>
        <pc:sldMkLst>
          <pc:docMk/>
          <pc:sldMk cId="1226902241" sldId="259"/>
        </pc:sldMkLst>
        <pc:spChg chg="add del mod">
          <ac:chgData name="Dharma Raghuvanshi" userId="d9dff847aaf73f3a" providerId="LiveId" clId="{FA4AE155-AC21-42FB-A64F-7F0884DCF8E0}" dt="2026-08-10T07:54:04.205" v="16" actId="478"/>
          <ac:spMkLst>
            <pc:docMk/>
            <pc:sldMk cId="1226902241" sldId="259"/>
            <ac:spMk id="6" creationId="{06A23D3A-B488-B41C-9564-27D6893BAEBB}"/>
          </ac:spMkLst>
        </pc:spChg>
      </pc:sldChg>
      <pc:sldChg chg="addSp modSp mod">
        <pc:chgData name="Dharma Raghuvanshi" userId="d9dff847aaf73f3a" providerId="LiveId" clId="{FA4AE155-AC21-42FB-A64F-7F0884DCF8E0}" dt="2026-08-10T08:39:53.777" v="1881" actId="20577"/>
        <pc:sldMkLst>
          <pc:docMk/>
          <pc:sldMk cId="3254274779" sldId="260"/>
        </pc:sldMkLst>
        <pc:spChg chg="add mod">
          <ac:chgData name="Dharma Raghuvanshi" userId="d9dff847aaf73f3a" providerId="LiveId" clId="{FA4AE155-AC21-42FB-A64F-7F0884DCF8E0}" dt="2026-08-10T08:39:53.777" v="1881" actId="20577"/>
          <ac:spMkLst>
            <pc:docMk/>
            <pc:sldMk cId="3254274779" sldId="260"/>
            <ac:spMk id="6" creationId="{4967D3BC-294F-8F32-66FC-63E7AE9D6E5B}"/>
          </ac:spMkLst>
        </pc:spChg>
      </pc:sldChg>
      <pc:sldChg chg="addSp delSp modSp mod ord">
        <pc:chgData name="Dharma Raghuvanshi" userId="d9dff847aaf73f3a" providerId="LiveId" clId="{FA4AE155-AC21-42FB-A64F-7F0884DCF8E0}" dt="2026-08-10T08:31:05.081" v="1302" actId="14100"/>
        <pc:sldMkLst>
          <pc:docMk/>
          <pc:sldMk cId="2700860659" sldId="265"/>
        </pc:sldMkLst>
        <pc:spChg chg="del mod">
          <ac:chgData name="Dharma Raghuvanshi" userId="d9dff847aaf73f3a" providerId="LiveId" clId="{FA4AE155-AC21-42FB-A64F-7F0884DCF8E0}" dt="2026-08-10T07:54:13.781" v="19" actId="478"/>
          <ac:spMkLst>
            <pc:docMk/>
            <pc:sldMk cId="2700860659" sldId="265"/>
            <ac:spMk id="2" creationId="{99BDA0B9-D33F-B6C2-2BA0-D05AE0005623}"/>
          </ac:spMkLst>
        </pc:spChg>
        <pc:spChg chg="del">
          <ac:chgData name="Dharma Raghuvanshi" userId="d9dff847aaf73f3a" providerId="LiveId" clId="{FA4AE155-AC21-42FB-A64F-7F0884DCF8E0}" dt="2026-08-10T07:54:11.277" v="17" actId="478"/>
          <ac:spMkLst>
            <pc:docMk/>
            <pc:sldMk cId="2700860659" sldId="265"/>
            <ac:spMk id="3" creationId="{6679AD02-0711-C14E-2BF9-04293A5A352F}"/>
          </ac:spMkLst>
        </pc:spChg>
        <pc:spChg chg="add del mod">
          <ac:chgData name="Dharma Raghuvanshi" userId="d9dff847aaf73f3a" providerId="LiveId" clId="{FA4AE155-AC21-42FB-A64F-7F0884DCF8E0}" dt="2026-08-10T07:54:40.298" v="23"/>
          <ac:spMkLst>
            <pc:docMk/>
            <pc:sldMk cId="2700860659" sldId="265"/>
            <ac:spMk id="4" creationId="{930C85AB-16A2-22DF-8A03-0BC0C391B707}"/>
          </ac:spMkLst>
        </pc:spChg>
        <pc:spChg chg="add mod">
          <ac:chgData name="Dharma Raghuvanshi" userId="d9dff847aaf73f3a" providerId="LiveId" clId="{FA4AE155-AC21-42FB-A64F-7F0884DCF8E0}" dt="2026-08-10T08:30:39.427" v="1299" actId="1076"/>
          <ac:spMkLst>
            <pc:docMk/>
            <pc:sldMk cId="2700860659" sldId="265"/>
            <ac:spMk id="5" creationId="{144BCE40-9977-A529-FC48-2E671C649B70}"/>
          </ac:spMkLst>
        </pc:spChg>
        <pc:spChg chg="add mod">
          <ac:chgData name="Dharma Raghuvanshi" userId="d9dff847aaf73f3a" providerId="LiveId" clId="{FA4AE155-AC21-42FB-A64F-7F0884DCF8E0}" dt="2026-08-10T08:31:05.081" v="1302" actId="14100"/>
          <ac:spMkLst>
            <pc:docMk/>
            <pc:sldMk cId="2700860659" sldId="265"/>
            <ac:spMk id="6" creationId="{7FEE305F-D631-AB45-1C3C-D9208ED3374D}"/>
          </ac:spMkLst>
        </pc:spChg>
      </pc:sldChg>
    </pc:docChg>
  </pc:docChgLst>
</pc:chgInfo>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84DA70-C731-4C70-880D-CCD4705E623C}" type="datetime1">
              <a:rPr lang="en-US" smtClean="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505424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1D723-8F53-4F53-90B0-1982A396982E}" type="datetime1">
              <a:rPr lang="en-US" smtClean="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19718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97669AF7-7BEB-44E4-9852-375E34362B5B}" type="datetime1">
              <a:rPr lang="en-US" smtClean="0"/>
              <a:t>8/10/2026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2405699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AAC38D-0552-4C82-B593-E6124DFADBE2}" type="datetime1">
              <a:rPr lang="en-US" smtClean="0"/>
              <a:t>8/10/2026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65042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DF0F1C-5577-4ACB-BB62-DF8F3C494C7E}" type="datetime1">
              <a:rPr lang="en-US" smtClean="0"/>
              <a:t>8/10/2026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94773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5B394-D9F9-4F0C-B15D-605F45CB9E9F}" type="datetime1">
              <a:rPr lang="en-US" smtClean="0"/>
              <a:t>8/10/2026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8783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67345-2558-425A-8533-9BFDBCE15005}" type="datetime1">
              <a:rPr lang="en-US" smtClean="0"/>
              <a:t>8/10/2026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089484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BEA474-078D-4E9B-9B14-09A87B19DC46}" type="datetime1">
              <a:rPr lang="en-US" smtClean="0"/>
              <a:t>8/10/2026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328929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07D986-8816-4272-A432-0437A28A9828}" type="datetime1">
              <a:rPr lang="en-US" smtClean="0"/>
              <a:t>8/10/2026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69117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2A279-0833-481D-8C56-F67FD0AC6C50}" type="datetime1">
              <a:rPr lang="en-US" smtClean="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79527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87DA83-5663-4C9C-B9AA-0B40A3DAFF81}" type="datetime1">
              <a:rPr lang="en-US" smtClean="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05364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62D6E202-B606-4609-B914-27C9371A1F6D}" type="datetime1">
              <a:rPr lang="en-US" smtClean="0"/>
              <a:t>8/10/2026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2078950358"/>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dharmaraghuvanshi@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F2A69CC-DA9E-3968-B241-1DF8EE31D88F}"/>
              </a:ext>
            </a:extLst>
          </p:cNvPr>
          <p:cNvSpPr txBox="1">
            <a:spLocks/>
          </p:cNvSpPr>
          <p:nvPr/>
        </p:nvSpPr>
        <p:spPr>
          <a:xfrm>
            <a:off x="1885357" y="2078967"/>
            <a:ext cx="9178504" cy="1272302"/>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8000" i="0" kern="1200" spc="-50" baseline="0">
                <a:solidFill>
                  <a:schemeClr val="tx1">
                    <a:lumMod val="85000"/>
                    <a:lumOff val="15000"/>
                  </a:schemeClr>
                </a:solidFill>
                <a:latin typeface="+mj-lt"/>
                <a:ea typeface="+mj-ea"/>
                <a:cs typeface="+mj-cs"/>
              </a:defRPr>
            </a:lvl1pPr>
          </a:lstStyle>
          <a:p>
            <a:r>
              <a:rPr lang="hi-IN" sz="4400" dirty="0"/>
              <a:t>Data Cleaning and Excel Projects: Completed during learning period</a:t>
            </a:r>
            <a:endParaRPr lang="en-US" sz="4400" dirty="0"/>
          </a:p>
        </p:txBody>
      </p:sp>
      <p:sp>
        <p:nvSpPr>
          <p:cNvPr id="10" name="TextBox 9">
            <a:extLst>
              <a:ext uri="{FF2B5EF4-FFF2-40B4-BE49-F238E27FC236}">
                <a16:creationId xmlns:a16="http://schemas.microsoft.com/office/drawing/2014/main" id="{9D33EBDA-378F-0EB4-E8E7-A590988523A3}"/>
              </a:ext>
            </a:extLst>
          </p:cNvPr>
          <p:cNvSpPr txBox="1"/>
          <p:nvPr/>
        </p:nvSpPr>
        <p:spPr>
          <a:xfrm>
            <a:off x="6737230" y="5072331"/>
            <a:ext cx="5568835" cy="1200329"/>
          </a:xfrm>
          <a:prstGeom prst="rect">
            <a:avLst/>
          </a:prstGeom>
          <a:noFill/>
        </p:spPr>
        <p:txBody>
          <a:bodyPr wrap="square" rtlCol="0">
            <a:spAutoFit/>
          </a:bodyPr>
          <a:lstStyle/>
          <a:p>
            <a:r>
              <a:rPr lang="hi-IN" dirty="0"/>
              <a:t>Dharma Raghuvanshi</a:t>
            </a:r>
          </a:p>
          <a:p>
            <a:r>
              <a:rPr lang="hi-IN" dirty="0"/>
              <a:t>Email address: </a:t>
            </a:r>
            <a:r>
              <a:rPr lang="hi-IN" dirty="0">
                <a:hlinkClick r:id="rId2"/>
              </a:rPr>
              <a:t>dharmaraghuvanshi@gmail.com</a:t>
            </a:r>
            <a:endParaRPr lang="hi-IN" dirty="0"/>
          </a:p>
          <a:p>
            <a:r>
              <a:rPr lang="hi-IN" dirty="0"/>
              <a:t>Phone Number: 9826452822</a:t>
            </a:r>
          </a:p>
          <a:p>
            <a:r>
              <a:rPr lang="hi-IN" dirty="0"/>
              <a:t>Gitgub: </a:t>
            </a:r>
            <a:endParaRPr lang="en-US" dirty="0"/>
          </a:p>
        </p:txBody>
      </p: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76B445E-8F68-4263-A682-A7C9F55B30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011" y="69013"/>
            <a:ext cx="9438536" cy="6732000"/>
          </a:xfrm>
        </p:spPr>
      </p:pic>
      <p:sp>
        <p:nvSpPr>
          <p:cNvPr id="6" name="TextBox 5">
            <a:extLst>
              <a:ext uri="{FF2B5EF4-FFF2-40B4-BE49-F238E27FC236}">
                <a16:creationId xmlns:a16="http://schemas.microsoft.com/office/drawing/2014/main" id="{77205E54-3373-EF59-7900-F980314096FF}"/>
              </a:ext>
            </a:extLst>
          </p:cNvPr>
          <p:cNvSpPr txBox="1"/>
          <p:nvPr/>
        </p:nvSpPr>
        <p:spPr>
          <a:xfrm>
            <a:off x="9507547" y="-8625"/>
            <a:ext cx="2615442" cy="5509200"/>
          </a:xfrm>
          <a:prstGeom prst="rect">
            <a:avLst/>
          </a:prstGeom>
          <a:noFill/>
        </p:spPr>
        <p:txBody>
          <a:bodyPr wrap="square" rtlCol="0">
            <a:spAutoFit/>
          </a:bodyPr>
          <a:lstStyle/>
          <a:p>
            <a:r>
              <a:rPr lang="hi-IN" sz="1600" dirty="0"/>
              <a:t>The data provided fat content, establishment year and outlet type with item and other detail.</a:t>
            </a:r>
          </a:p>
          <a:p>
            <a:endParaRPr lang="hi-IN" sz="1600" dirty="0"/>
          </a:p>
          <a:p>
            <a:r>
              <a:rPr lang="hi-IN" sz="1600" dirty="0"/>
              <a:t>T</a:t>
            </a:r>
            <a:r>
              <a:rPr lang="en-US" sz="1600" dirty="0"/>
              <a:t>h</a:t>
            </a:r>
            <a:r>
              <a:rPr lang="hi-IN" sz="1600" dirty="0"/>
              <a:t>e data was cleaned and arranged using power query.</a:t>
            </a:r>
          </a:p>
          <a:p>
            <a:endParaRPr lang="hi-IN" sz="1600" dirty="0"/>
          </a:p>
          <a:p>
            <a:r>
              <a:rPr lang="hi-IN" sz="1600" dirty="0"/>
              <a:t>Using pivot table the tables were arranged to be displayed on dashboard.</a:t>
            </a:r>
          </a:p>
          <a:p>
            <a:endParaRPr lang="hi-IN" sz="1600" dirty="0"/>
          </a:p>
          <a:p>
            <a:r>
              <a:rPr lang="hi-IN" sz="1600" dirty="0"/>
              <a:t>The dashboard gives insight on the business helping decision making: The outlet size could be reduced to medium for high outlets as business generated is similar to a medium size store.</a:t>
            </a:r>
            <a:endParaRPr lang="en-US" sz="1600" dirty="0"/>
          </a:p>
        </p:txBody>
      </p:sp>
    </p:spTree>
    <p:extLst>
      <p:ext uri="{BB962C8B-B14F-4D97-AF65-F5344CB8AC3E}">
        <p14:creationId xmlns:p14="http://schemas.microsoft.com/office/powerpoint/2010/main" val="2031869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DCA205C-2222-39AA-24A6-DA2B65DFFC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898" y="243000"/>
            <a:ext cx="9405310" cy="6372000"/>
          </a:xfrm>
        </p:spPr>
      </p:pic>
    </p:spTree>
    <p:extLst>
      <p:ext uri="{BB962C8B-B14F-4D97-AF65-F5344CB8AC3E}">
        <p14:creationId xmlns:p14="http://schemas.microsoft.com/office/powerpoint/2010/main" val="1226902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144BCE40-9977-A529-FC48-2E671C649B70}"/>
              </a:ext>
            </a:extLst>
          </p:cNvPr>
          <p:cNvSpPr>
            <a:spLocks noChangeArrowheads="1"/>
          </p:cNvSpPr>
          <p:nvPr/>
        </p:nvSpPr>
        <p:spPr bwMode="auto">
          <a:xfrm>
            <a:off x="0" y="603026"/>
            <a:ext cx="11661775" cy="6324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rgbClr val="1F1F1F"/>
                </a:solidFill>
                <a:effectLst/>
                <a:latin typeface="Google Sans Flex"/>
              </a:rPr>
              <a:t>All store locations performed almost equal with slight difference of 1%, all standing at </a:t>
            </a:r>
            <a:r>
              <a:rPr kumimoji="0" lang="en-US" altLang="en-US" sz="1500" b="1" i="0" u="none" strike="noStrike" cap="none" normalizeH="0" baseline="0" dirty="0">
                <a:ln>
                  <a:noFill/>
                </a:ln>
                <a:solidFill>
                  <a:srgbClr val="1F1F1F"/>
                </a:solidFill>
                <a:effectLst/>
                <a:latin typeface="Google Sans Flex"/>
              </a:rPr>
              <a:t>34% and 33%</a:t>
            </a:r>
            <a:r>
              <a:rPr kumimoji="0" lang="en-US" altLang="en-US" sz="1500" b="0" i="0" u="none" strike="noStrike" cap="none" normalizeH="0" baseline="0" dirty="0">
                <a:ln>
                  <a:noFill/>
                </a:ln>
                <a:solidFill>
                  <a:srgbClr val="1F1F1F"/>
                </a:solidFill>
                <a:effectLst/>
                <a:latin typeface="Google Sans Flex"/>
              </a:rPr>
              <a:t>, the performance in all three area is consistent.</a:t>
            </a:r>
            <a:br>
              <a:rPr kumimoji="0" lang="en-US" altLang="en-US" sz="1500" b="0" i="0" u="none" strike="noStrike" cap="none" normalizeH="0" baseline="0" dirty="0">
                <a:ln>
                  <a:noFill/>
                </a:ln>
                <a:solidFill>
                  <a:srgbClr val="1F1F1F"/>
                </a:solidFill>
                <a:effectLst/>
                <a:latin typeface="Google Sans Flex"/>
              </a:rPr>
            </a:br>
            <a:endParaRPr kumimoji="0" lang="en-US" altLang="en-US" sz="1500" b="0" i="0" u="none" strike="noStrike" cap="none" normalizeH="0" baseline="0" dirty="0">
              <a:ln>
                <a:noFill/>
              </a:ln>
              <a:solidFill>
                <a:srgbClr val="1F1F1F"/>
              </a:solidFill>
              <a:effectLst/>
              <a:latin typeface="Google Sans Flex"/>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rgbClr val="1F1F1F"/>
                </a:solidFill>
                <a:effectLst/>
                <a:latin typeface="Google Sans Flex"/>
              </a:rPr>
              <a:t>Category sales: </a:t>
            </a:r>
            <a:r>
              <a:rPr kumimoji="0" lang="en-US" altLang="en-US" sz="1500" b="1" i="0" u="none" strike="noStrike" cap="none" normalizeH="0" baseline="0" dirty="0">
                <a:ln>
                  <a:noFill/>
                </a:ln>
                <a:solidFill>
                  <a:srgbClr val="1F1F1F"/>
                </a:solidFill>
                <a:effectLst/>
                <a:latin typeface="Google Sans Flex"/>
              </a:rPr>
              <a:t>Regular coffee </a:t>
            </a:r>
            <a:r>
              <a:rPr kumimoji="0" lang="en-US" altLang="en-US" sz="1500" b="0" i="0" u="none" strike="noStrike" cap="none" normalizeH="0" baseline="0" dirty="0">
                <a:ln>
                  <a:noFill/>
                </a:ln>
                <a:solidFill>
                  <a:srgbClr val="1F1F1F"/>
                </a:solidFill>
                <a:effectLst/>
                <a:latin typeface="Google Sans Flex"/>
              </a:rPr>
              <a:t>sold most among all with the contribution of </a:t>
            </a:r>
            <a:r>
              <a:rPr kumimoji="0" lang="en-US" altLang="en-US" sz="1500" b="1" i="0" u="none" strike="noStrike" cap="none" normalizeH="0" baseline="0" dirty="0">
                <a:ln>
                  <a:noFill/>
                </a:ln>
                <a:solidFill>
                  <a:srgbClr val="1F1F1F"/>
                </a:solidFill>
                <a:effectLst/>
                <a:latin typeface="Google Sans Flex"/>
              </a:rPr>
              <a:t>33%</a:t>
            </a:r>
            <a:r>
              <a:rPr kumimoji="0" lang="en-US" altLang="en-US" sz="1500" b="0" i="0" u="none" strike="noStrike" cap="none" normalizeH="0" baseline="0" dirty="0">
                <a:ln>
                  <a:noFill/>
                </a:ln>
                <a:solidFill>
                  <a:srgbClr val="1F1F1F"/>
                </a:solidFill>
                <a:effectLst/>
                <a:latin typeface="Google Sans Flex"/>
              </a:rPr>
              <a:t>, followed </a:t>
            </a:r>
            <a:r>
              <a:rPr kumimoji="0" lang="en-US" altLang="en-US" sz="1500" i="0" u="none" strike="noStrike" cap="none" normalizeH="0" baseline="0" dirty="0">
                <a:ln>
                  <a:noFill/>
                </a:ln>
                <a:solidFill>
                  <a:srgbClr val="1F1F1F"/>
                </a:solidFill>
                <a:effectLst/>
                <a:latin typeface="Google Sans Flex"/>
              </a:rPr>
              <a:t>by</a:t>
            </a:r>
            <a:r>
              <a:rPr kumimoji="0" lang="en-US" altLang="en-US" sz="1500" b="1" i="0" u="none" strike="noStrike" cap="none" normalizeH="0" baseline="0" dirty="0">
                <a:ln>
                  <a:noFill/>
                </a:ln>
                <a:solidFill>
                  <a:srgbClr val="1F1F1F"/>
                </a:solidFill>
                <a:effectLst/>
                <a:latin typeface="Google Sans Flex"/>
              </a:rPr>
              <a:t> Large coffee at 32%</a:t>
            </a:r>
            <a:r>
              <a:rPr kumimoji="0" lang="en-US" altLang="en-US" sz="1500" b="0" i="0" u="none" strike="noStrike" cap="none" normalizeH="0" baseline="0" dirty="0">
                <a:ln>
                  <a:noFill/>
                </a:ln>
                <a:solidFill>
                  <a:srgbClr val="1F1F1F"/>
                </a:solidFill>
                <a:effectLst/>
                <a:latin typeface="Google Sans Flex"/>
              </a:rPr>
              <a:t>, small coffee was least in demand with contribution of 10%, rest 25% of the sales came from not defined category.</a:t>
            </a:r>
            <a:br>
              <a:rPr kumimoji="0" lang="en-US" altLang="en-US" sz="1500" b="0" i="0" u="none" strike="noStrike" cap="none" normalizeH="0" baseline="0" dirty="0">
                <a:ln>
                  <a:noFill/>
                </a:ln>
                <a:solidFill>
                  <a:srgbClr val="1F1F1F"/>
                </a:solidFill>
                <a:effectLst/>
                <a:latin typeface="Google Sans Flex"/>
              </a:rPr>
            </a:br>
            <a:endParaRPr kumimoji="0" lang="en-US" altLang="en-US" sz="1500" b="0" i="0" u="none" strike="noStrike" cap="none" normalizeH="0" baseline="0" dirty="0">
              <a:ln>
                <a:noFill/>
              </a:ln>
              <a:solidFill>
                <a:srgbClr val="1F1F1F"/>
              </a:solidFill>
              <a:effectLst/>
              <a:latin typeface="Google Sans Flex"/>
            </a:endParaRPr>
          </a:p>
          <a:p>
            <a:pPr marL="171450" lvl="0" indent="-171450" defTabSz="914400" eaLnBrk="0" fontAlgn="base" hangingPunct="0">
              <a:spcBef>
                <a:spcPct val="0"/>
              </a:spcBef>
              <a:spcAft>
                <a:spcPct val="0"/>
              </a:spcAft>
              <a:buFont typeface="Arial" panose="020B0604020202020204" pitchFamily="34" charset="0"/>
              <a:buChar char="•"/>
            </a:pPr>
            <a:r>
              <a:rPr kumimoji="0" lang="en-US" altLang="en-US" sz="1500" b="1" i="0" u="none" strike="noStrike" cap="none" normalizeH="0" baseline="0" dirty="0">
                <a:ln>
                  <a:noFill/>
                </a:ln>
                <a:solidFill>
                  <a:srgbClr val="1F1F1F"/>
                </a:solidFill>
                <a:effectLst/>
                <a:latin typeface="Google Sans Flex"/>
              </a:rPr>
              <a:t>7 AM to 10 AM </a:t>
            </a:r>
            <a:r>
              <a:rPr kumimoji="0" lang="en-US" altLang="en-US" sz="1500" b="0" i="0" u="none" strike="noStrike" cap="none" normalizeH="0" baseline="0" dirty="0">
                <a:ln>
                  <a:noFill/>
                </a:ln>
                <a:solidFill>
                  <a:srgbClr val="1F1F1F"/>
                </a:solidFill>
                <a:effectLst/>
                <a:latin typeface="Google Sans Flex"/>
              </a:rPr>
              <a:t>turned out to be the </a:t>
            </a:r>
            <a:r>
              <a:rPr kumimoji="0" lang="en-US" altLang="en-US" sz="1500" b="1" i="0" u="none" strike="noStrike" cap="none" normalizeH="0" baseline="0" dirty="0">
                <a:ln>
                  <a:noFill/>
                </a:ln>
                <a:solidFill>
                  <a:srgbClr val="1F1F1F"/>
                </a:solidFill>
                <a:effectLst/>
                <a:latin typeface="Google Sans Flex"/>
              </a:rPr>
              <a:t>highest selling time </a:t>
            </a:r>
            <a:r>
              <a:rPr kumimoji="0" lang="en-US" altLang="en-US" sz="1500" b="0" i="0" u="none" strike="noStrike" cap="none" normalizeH="0" baseline="0" dirty="0">
                <a:ln>
                  <a:noFill/>
                </a:ln>
                <a:solidFill>
                  <a:srgbClr val="1F1F1F"/>
                </a:solidFill>
                <a:effectLst/>
                <a:latin typeface="Google Sans Flex"/>
              </a:rPr>
              <a:t>duration, with sales </a:t>
            </a:r>
            <a:r>
              <a:rPr lang="hi-IN" altLang="en-US" sz="1500" dirty="0">
                <a:solidFill>
                  <a:srgbClr val="1F1F1F"/>
                </a:solidFill>
                <a:latin typeface="Google Sans Flex"/>
              </a:rPr>
              <a:t>frequently </a:t>
            </a:r>
            <a:r>
              <a:rPr kumimoji="0" lang="en-US" altLang="en-US" sz="1500" b="0" i="0" u="none" strike="noStrike" cap="none" normalizeH="0" baseline="0" dirty="0">
                <a:ln>
                  <a:noFill/>
                </a:ln>
                <a:solidFill>
                  <a:srgbClr val="1F1F1F"/>
                </a:solidFill>
                <a:effectLst/>
                <a:latin typeface="Google Sans Flex"/>
              </a:rPr>
              <a:t>crossing 20000 mark and generating </a:t>
            </a:r>
            <a:r>
              <a:rPr kumimoji="0" lang="en-US" altLang="en-US" sz="1500" b="1" i="0" u="none" strike="noStrike" cap="none" normalizeH="0" baseline="0" dirty="0">
                <a:ln>
                  <a:noFill/>
                </a:ln>
                <a:solidFill>
                  <a:srgbClr val="1F1F1F"/>
                </a:solidFill>
                <a:effectLst/>
                <a:latin typeface="Google Sans Flex"/>
              </a:rPr>
              <a:t>average</a:t>
            </a:r>
            <a:r>
              <a:rPr kumimoji="0" lang="en-US" altLang="en-US" sz="1500" b="0" i="0" u="none" strike="noStrike" cap="none" normalizeH="0" baseline="0" dirty="0">
                <a:ln>
                  <a:noFill/>
                </a:ln>
                <a:solidFill>
                  <a:srgbClr val="1F1F1F"/>
                </a:solidFill>
                <a:effectLst/>
                <a:latin typeface="Google Sans Flex"/>
              </a:rPr>
              <a:t> sale revenue of </a:t>
            </a:r>
            <a:r>
              <a:rPr kumimoji="0" lang="en-US" altLang="en-US" sz="1500" b="1" i="0" u="none" strike="noStrike" cap="none" normalizeH="0" baseline="0" dirty="0">
                <a:ln>
                  <a:noFill/>
                </a:ln>
                <a:solidFill>
                  <a:srgbClr val="1F1F1F"/>
                </a:solidFill>
                <a:effectLst/>
                <a:latin typeface="Google Sans Flex"/>
              </a:rPr>
              <a:t>25000</a:t>
            </a:r>
            <a:r>
              <a:rPr kumimoji="0" lang="en-US" altLang="en-US" sz="1500" b="0" i="0" u="none" strike="noStrike" cap="none" normalizeH="0" baseline="0" dirty="0">
                <a:ln>
                  <a:noFill/>
                </a:ln>
                <a:solidFill>
                  <a:srgbClr val="1F1F1F"/>
                </a:solidFill>
                <a:effectLst/>
                <a:latin typeface="Google Sans Flex"/>
              </a:rPr>
              <a:t>.</a:t>
            </a:r>
            <a:endParaRPr kumimoji="0" lang="hi-IN" altLang="en-US" sz="1500" b="0" i="0" u="none" strike="noStrike" cap="none" normalizeH="0" baseline="0" dirty="0">
              <a:ln>
                <a:noFill/>
              </a:ln>
              <a:solidFill>
                <a:srgbClr val="1F1F1F"/>
              </a:solidFill>
              <a:effectLst/>
              <a:latin typeface="Google Sans Flex"/>
            </a:endParaRPr>
          </a:p>
          <a:p>
            <a:pPr marL="171450" lvl="0" indent="-171450" defTabSz="914400" eaLnBrk="0" fontAlgn="base" hangingPunct="0">
              <a:spcBef>
                <a:spcPct val="0"/>
              </a:spcBef>
              <a:spcAft>
                <a:spcPct val="0"/>
              </a:spcAft>
              <a:buFont typeface="Arial" panose="020B0604020202020204" pitchFamily="34" charset="0"/>
              <a:buChar char="•"/>
            </a:pPr>
            <a:endParaRPr kumimoji="0" lang="en-US" altLang="en-US" sz="1500" b="0" i="0" u="none" strike="noStrike" cap="none" normalizeH="0" baseline="0" dirty="0">
              <a:ln>
                <a:noFill/>
              </a:ln>
              <a:solidFill>
                <a:srgbClr val="1F1F1F"/>
              </a:solidFill>
              <a:effectLst/>
              <a:latin typeface="Google Sans Flex"/>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rgbClr val="1F1F1F"/>
                </a:solidFill>
                <a:effectLst/>
                <a:latin typeface="Google Sans Flex"/>
              </a:rPr>
              <a:t>While most </a:t>
            </a:r>
            <a:r>
              <a:rPr kumimoji="0" lang="hi-IN" altLang="en-US" sz="1500" b="0" i="0" u="none" strike="noStrike" cap="none" normalizeH="0" baseline="0" dirty="0">
                <a:ln>
                  <a:noFill/>
                </a:ln>
                <a:solidFill>
                  <a:srgbClr val="1F1F1F"/>
                </a:solidFill>
                <a:effectLst/>
                <a:latin typeface="Google Sans Flex"/>
              </a:rPr>
              <a:t>of</a:t>
            </a:r>
            <a:r>
              <a:rPr kumimoji="0" lang="en-US" altLang="en-US" sz="1500" b="0" i="0" u="none" strike="noStrike" cap="none" normalizeH="0" baseline="0" dirty="0">
                <a:ln>
                  <a:noFill/>
                </a:ln>
                <a:solidFill>
                  <a:srgbClr val="1F1F1F"/>
                </a:solidFill>
                <a:effectLst/>
                <a:latin typeface="Google Sans Flex"/>
              </a:rPr>
              <a:t> the sale</a:t>
            </a:r>
            <a:r>
              <a:rPr kumimoji="0" lang="hi-IN" altLang="en-US" sz="1500" b="0" i="0" u="none" strike="noStrike" cap="none" normalizeH="0" baseline="0" dirty="0">
                <a:ln>
                  <a:noFill/>
                </a:ln>
                <a:solidFill>
                  <a:srgbClr val="1F1F1F"/>
                </a:solidFill>
                <a:effectLst/>
                <a:latin typeface="Google Sans Flex"/>
              </a:rPr>
              <a:t>s,</a:t>
            </a:r>
            <a:r>
              <a:rPr kumimoji="0" lang="en-US" altLang="en-US" sz="1500" b="0" i="0" u="none" strike="noStrike" cap="none" normalizeH="0" baseline="0" dirty="0">
                <a:ln>
                  <a:noFill/>
                </a:ln>
                <a:solidFill>
                  <a:srgbClr val="1F1F1F"/>
                </a:solidFill>
                <a:effectLst/>
                <a:latin typeface="Google Sans Flex"/>
              </a:rPr>
              <a:t> made between </a:t>
            </a:r>
            <a:r>
              <a:rPr kumimoji="0" lang="en-US" altLang="en-US" sz="1500" b="1" i="0" u="none" strike="noStrike" cap="none" normalizeH="0" baseline="0" dirty="0">
                <a:ln>
                  <a:noFill/>
                </a:ln>
                <a:solidFill>
                  <a:srgbClr val="1F1F1F"/>
                </a:solidFill>
                <a:effectLst/>
                <a:latin typeface="Google Sans Flex"/>
              </a:rPr>
              <a:t>11PM and 18PM </a:t>
            </a:r>
            <a:r>
              <a:rPr kumimoji="0" lang="en-US" altLang="en-US" sz="1500" b="0" i="0" u="none" strike="noStrike" cap="none" normalizeH="0" baseline="0" dirty="0">
                <a:ln>
                  <a:noFill/>
                </a:ln>
                <a:solidFill>
                  <a:srgbClr val="1F1F1F"/>
                </a:solidFill>
                <a:effectLst/>
                <a:latin typeface="Google Sans Flex"/>
              </a:rPr>
              <a:t>were consistent with an </a:t>
            </a:r>
            <a:r>
              <a:rPr kumimoji="0" lang="en-US" altLang="en-US" sz="1500" b="1" i="0" u="none" strike="noStrike" cap="none" normalizeH="0" baseline="0" dirty="0">
                <a:ln>
                  <a:noFill/>
                </a:ln>
                <a:solidFill>
                  <a:srgbClr val="1F1F1F"/>
                </a:solidFill>
                <a:effectLst/>
                <a:latin typeface="Google Sans Flex"/>
              </a:rPr>
              <a:t>average</a:t>
            </a:r>
            <a:r>
              <a:rPr kumimoji="0" lang="en-US" altLang="en-US" sz="1500" b="0" i="0" u="none" strike="noStrike" cap="none" normalizeH="0" baseline="0" dirty="0">
                <a:ln>
                  <a:noFill/>
                </a:ln>
                <a:solidFill>
                  <a:srgbClr val="1F1F1F"/>
                </a:solidFill>
                <a:effectLst/>
                <a:latin typeface="Google Sans Flex"/>
              </a:rPr>
              <a:t> of </a:t>
            </a:r>
            <a:r>
              <a:rPr kumimoji="0" lang="en-US" altLang="en-US" sz="1500" b="1" i="0" u="none" strike="noStrike" cap="none" normalizeH="0" baseline="0" dirty="0">
                <a:ln>
                  <a:noFill/>
                </a:ln>
                <a:solidFill>
                  <a:srgbClr val="1F1F1F"/>
                </a:solidFill>
                <a:effectLst/>
                <a:latin typeface="Google Sans Flex"/>
              </a:rPr>
              <a:t>12500</a:t>
            </a:r>
            <a:r>
              <a:rPr kumimoji="0" lang="en-US" altLang="en-US" sz="1500" b="0" i="0" u="none" strike="noStrike" cap="none" normalizeH="0" baseline="0" dirty="0">
                <a:ln>
                  <a:noFill/>
                </a:ln>
                <a:solidFill>
                  <a:srgbClr val="1F1F1F"/>
                </a:solidFill>
                <a:effectLst/>
                <a:latin typeface="Google Sans Flex"/>
              </a:rPr>
              <a:t> </a:t>
            </a:r>
            <a:r>
              <a:rPr kumimoji="0" lang="en-US" altLang="en-US" sz="1500" b="1" i="0" u="none" strike="noStrike" cap="none" normalizeH="0" baseline="0" dirty="0">
                <a:ln>
                  <a:noFill/>
                </a:ln>
                <a:solidFill>
                  <a:srgbClr val="1F1F1F"/>
                </a:solidFill>
                <a:effectLst/>
                <a:latin typeface="Google Sans Flex"/>
              </a:rPr>
              <a:t>each hour</a:t>
            </a:r>
            <a:r>
              <a:rPr kumimoji="0" lang="en-US" altLang="en-US" sz="1500" b="0" i="0" u="none" strike="noStrike" cap="none" normalizeH="0" baseline="0" dirty="0">
                <a:ln>
                  <a:noFill/>
                </a:ln>
                <a:solidFill>
                  <a:srgbClr val="1F1F1F"/>
                </a:solidFill>
                <a:effectLst/>
                <a:latin typeface="Google Sans Flex"/>
              </a:rPr>
              <a:t>. 18PM to 19PM gave an average of 7500. Sales at 8PM hit the bottom low standing at 880. </a:t>
            </a:r>
            <a:br>
              <a:rPr kumimoji="0" lang="en-US" altLang="en-US" sz="1500" b="0" i="0" u="none" strike="noStrike" cap="none" normalizeH="0" baseline="0" dirty="0">
                <a:ln>
                  <a:noFill/>
                </a:ln>
                <a:solidFill>
                  <a:srgbClr val="1F1F1F"/>
                </a:solidFill>
                <a:effectLst/>
                <a:latin typeface="Google Sans Flex"/>
              </a:rPr>
            </a:br>
            <a:endParaRPr kumimoji="0" lang="en-US" altLang="en-US" sz="1500" b="0" i="0" u="none" strike="noStrike" cap="none" normalizeH="0" baseline="0" dirty="0">
              <a:ln>
                <a:noFill/>
              </a:ln>
              <a:solidFill>
                <a:srgbClr val="1F1F1F"/>
              </a:solidFill>
              <a:effectLst/>
              <a:latin typeface="Google Sans Flex"/>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err="1">
                <a:ln>
                  <a:noFill/>
                </a:ln>
                <a:solidFill>
                  <a:srgbClr val="1F1F1F"/>
                </a:solidFill>
                <a:effectLst/>
                <a:latin typeface="Google Sans Flex"/>
              </a:rPr>
              <a:t>Ethi</a:t>
            </a:r>
            <a:r>
              <a:rPr kumimoji="0" lang="hi-IN" altLang="en-US" sz="1500" b="0" i="0" u="none" strike="noStrike" cap="none" normalizeH="0" baseline="0" dirty="0">
                <a:ln>
                  <a:noFill/>
                </a:ln>
                <a:solidFill>
                  <a:srgbClr val="1F1F1F"/>
                </a:solidFill>
                <a:effectLst/>
                <a:latin typeface="Google Sans Flex"/>
              </a:rPr>
              <a:t>o</a:t>
            </a:r>
            <a:r>
              <a:rPr kumimoji="0" lang="en-US" altLang="en-US" sz="1500" b="0" i="0" u="none" strike="noStrike" cap="none" normalizeH="0" baseline="0" dirty="0">
                <a:ln>
                  <a:noFill/>
                </a:ln>
                <a:solidFill>
                  <a:srgbClr val="1F1F1F"/>
                </a:solidFill>
                <a:effectLst/>
                <a:latin typeface="Google Sans Flex"/>
              </a:rPr>
              <a:t>pia la, Our old time diner, Columbian Medium, Brazilian, J</a:t>
            </a:r>
            <a:r>
              <a:rPr kumimoji="0" lang="hi-IN" altLang="en-US" sz="1500" b="0" i="0" u="none" strike="noStrike" cap="none" normalizeH="0" baseline="0" dirty="0">
                <a:ln>
                  <a:noFill/>
                </a:ln>
                <a:solidFill>
                  <a:srgbClr val="1F1F1F"/>
                </a:solidFill>
                <a:effectLst/>
                <a:latin typeface="Google Sans Flex"/>
              </a:rPr>
              <a:t>a</a:t>
            </a:r>
            <a:r>
              <a:rPr kumimoji="0" lang="en-US" altLang="en-US" sz="1500" b="0" i="0" u="none" strike="noStrike" cap="none" normalizeH="0" baseline="0" dirty="0" err="1">
                <a:ln>
                  <a:noFill/>
                </a:ln>
                <a:solidFill>
                  <a:srgbClr val="1F1F1F"/>
                </a:solidFill>
                <a:effectLst/>
                <a:latin typeface="Google Sans Flex"/>
              </a:rPr>
              <a:t>maican</a:t>
            </a:r>
            <a:r>
              <a:rPr kumimoji="0" lang="en-US" altLang="en-US" sz="1500" b="0" i="0" u="none" strike="noStrike" cap="none" normalizeH="0" baseline="0" dirty="0">
                <a:ln>
                  <a:noFill/>
                </a:ln>
                <a:solidFill>
                  <a:srgbClr val="1F1F1F"/>
                </a:solidFill>
                <a:effectLst/>
                <a:latin typeface="Google Sans Flex"/>
              </a:rPr>
              <a:t> coffee are the </a:t>
            </a:r>
            <a:r>
              <a:rPr kumimoji="0" lang="en-US" altLang="en-US" sz="1500" b="1" i="0" u="none" strike="noStrike" cap="none" normalizeH="0" baseline="0" dirty="0">
                <a:ln>
                  <a:noFill/>
                </a:ln>
                <a:solidFill>
                  <a:srgbClr val="1F1F1F"/>
                </a:solidFill>
                <a:effectLst/>
                <a:latin typeface="Google Sans Flex"/>
              </a:rPr>
              <a:t>star performer </a:t>
            </a:r>
            <a:r>
              <a:rPr kumimoji="0" lang="en-US" altLang="en-US" sz="1500" b="0" i="0" u="none" strike="noStrike" cap="none" normalizeH="0" baseline="0" dirty="0">
                <a:ln>
                  <a:noFill/>
                </a:ln>
                <a:solidFill>
                  <a:srgbClr val="1F1F1F"/>
                </a:solidFill>
                <a:effectLst/>
                <a:latin typeface="Google Sans Flex"/>
              </a:rPr>
              <a:t>all averaging at </a:t>
            </a:r>
            <a:r>
              <a:rPr kumimoji="0" lang="en-US" altLang="en-US" sz="1500" b="1" i="0" u="none" strike="noStrike" cap="none" normalizeH="0" baseline="0" dirty="0">
                <a:ln>
                  <a:noFill/>
                </a:ln>
                <a:solidFill>
                  <a:srgbClr val="1F1F1F"/>
                </a:solidFill>
                <a:effectLst/>
                <a:latin typeface="Google Sans Flex"/>
              </a:rPr>
              <a:t>13000</a:t>
            </a:r>
            <a:r>
              <a:rPr kumimoji="0" lang="en-US" altLang="en-US" sz="1500" b="0" i="0" u="none" strike="noStrike" cap="none" normalizeH="0" baseline="0" dirty="0">
                <a:ln>
                  <a:noFill/>
                </a:ln>
                <a:solidFill>
                  <a:srgbClr val="1F1F1F"/>
                </a:solidFill>
                <a:effectLst/>
                <a:latin typeface="Google Sans Flex"/>
              </a:rPr>
              <a:t>, followed by </a:t>
            </a:r>
            <a:r>
              <a:rPr kumimoji="0" lang="hi-IN" altLang="en-US" sz="1500" b="0" i="0" u="none" strike="noStrike" cap="none" normalizeH="0" baseline="0" dirty="0">
                <a:ln>
                  <a:noFill/>
                </a:ln>
                <a:solidFill>
                  <a:srgbClr val="1F1F1F"/>
                </a:solidFill>
                <a:effectLst/>
                <a:latin typeface="Google Sans Flex"/>
              </a:rPr>
              <a:t>morning</a:t>
            </a:r>
            <a:r>
              <a:rPr kumimoji="0" lang="en-US" altLang="en-US" sz="1500" b="0" i="0" u="none" strike="noStrike" cap="none" normalizeH="0" baseline="0" dirty="0">
                <a:ln>
                  <a:noFill/>
                </a:ln>
                <a:solidFill>
                  <a:srgbClr val="1F1F1F"/>
                </a:solidFill>
                <a:effectLst/>
                <a:latin typeface="Google Sans Flex"/>
              </a:rPr>
              <a:t> Sunrise, Latte Earl Grey, Peppermint, Sustainably Grown standing at 9000.</a:t>
            </a:r>
            <a:br>
              <a:rPr kumimoji="0" lang="en-US" altLang="en-US" sz="1500" b="0" i="0" u="none" strike="noStrike" cap="none" normalizeH="0" baseline="0" dirty="0">
                <a:ln>
                  <a:noFill/>
                </a:ln>
                <a:solidFill>
                  <a:srgbClr val="1F1F1F"/>
                </a:solidFill>
                <a:effectLst/>
                <a:latin typeface="Google Sans Flex"/>
              </a:rPr>
            </a:br>
            <a:endParaRPr kumimoji="0" lang="en-US" altLang="en-US" sz="1500" b="0" i="0" u="none" strike="noStrike" cap="none" normalizeH="0" baseline="0" dirty="0">
              <a:ln>
                <a:noFill/>
              </a:ln>
              <a:solidFill>
                <a:srgbClr val="1F1F1F"/>
              </a:solidFill>
              <a:effectLst/>
              <a:latin typeface="Google Sans Flex"/>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rgbClr val="1F1F1F"/>
                </a:solidFill>
                <a:effectLst/>
                <a:latin typeface="Google Sans Flex"/>
              </a:rPr>
              <a:t>It's best we offer more </a:t>
            </a:r>
            <a:r>
              <a:rPr kumimoji="0" lang="en-US" altLang="en-US" sz="1500" b="1" i="0" u="none" strike="noStrike" cap="none" normalizeH="0" baseline="0" dirty="0">
                <a:ln>
                  <a:noFill/>
                </a:ln>
                <a:solidFill>
                  <a:srgbClr val="1F1F1F"/>
                </a:solidFill>
                <a:effectLst/>
                <a:latin typeface="Google Sans Flex"/>
              </a:rPr>
              <a:t>side categories </a:t>
            </a:r>
            <a:r>
              <a:rPr kumimoji="0" lang="en-US" altLang="en-US" sz="1500" b="0" i="0" u="none" strike="noStrike" cap="none" normalizeH="0" baseline="0" dirty="0">
                <a:ln>
                  <a:noFill/>
                </a:ln>
                <a:solidFill>
                  <a:srgbClr val="1F1F1F"/>
                </a:solidFill>
                <a:effectLst/>
                <a:latin typeface="Google Sans Flex"/>
              </a:rPr>
              <a:t>during peak hour that compliment the </a:t>
            </a:r>
            <a:r>
              <a:rPr kumimoji="0" lang="hi-IN" altLang="en-US" sz="1500" b="0" i="0" u="none" strike="noStrike" cap="none" normalizeH="0" baseline="0" dirty="0">
                <a:ln>
                  <a:noFill/>
                </a:ln>
                <a:solidFill>
                  <a:srgbClr val="1F1F1F"/>
                </a:solidFill>
                <a:effectLst/>
                <a:latin typeface="Google Sans Flex"/>
              </a:rPr>
              <a:t>morning</a:t>
            </a:r>
            <a:r>
              <a:rPr kumimoji="0" lang="en-US" altLang="en-US" sz="1500" b="0" i="0" u="none" strike="noStrike" cap="none" normalizeH="0" baseline="0" dirty="0">
                <a:ln>
                  <a:noFill/>
                </a:ln>
                <a:solidFill>
                  <a:srgbClr val="1F1F1F"/>
                </a:solidFill>
                <a:effectLst/>
                <a:latin typeface="Google Sans Flex"/>
              </a:rPr>
              <a:t> coffee </a:t>
            </a:r>
            <a:r>
              <a:rPr kumimoji="0" lang="hi-IN" altLang="en-US" sz="1500" b="0" i="0" u="none" strike="noStrike" cap="none" normalizeH="0" baseline="0" dirty="0">
                <a:ln>
                  <a:noFill/>
                </a:ln>
                <a:solidFill>
                  <a:srgbClr val="1F1F1F"/>
                </a:solidFill>
                <a:effectLst/>
                <a:latin typeface="Google Sans Flex"/>
              </a:rPr>
              <a:t>during</a:t>
            </a:r>
            <a:r>
              <a:rPr kumimoji="0" lang="en-US" altLang="en-US" sz="1500" b="0" i="0" u="none" strike="noStrike" cap="none" normalizeH="0" baseline="0" dirty="0">
                <a:ln>
                  <a:noFill/>
                </a:ln>
                <a:solidFill>
                  <a:srgbClr val="1F1F1F"/>
                </a:solidFill>
                <a:effectLst/>
                <a:latin typeface="Google Sans Flex"/>
              </a:rPr>
              <a:t> </a:t>
            </a:r>
            <a:r>
              <a:rPr kumimoji="0" lang="en-US" altLang="en-US" sz="1500" b="1" i="0" u="none" strike="noStrike" cap="none" normalizeH="0" baseline="0" dirty="0">
                <a:ln>
                  <a:noFill/>
                </a:ln>
                <a:solidFill>
                  <a:srgbClr val="1F1F1F"/>
                </a:solidFill>
                <a:effectLst/>
                <a:latin typeface="Google Sans Flex"/>
              </a:rPr>
              <a:t>7AM till 10 AM</a:t>
            </a:r>
            <a:r>
              <a:rPr kumimoji="0" lang="en-US" altLang="en-US" sz="1500" b="0" i="0" u="none" strike="noStrike" cap="none" normalizeH="0" baseline="0" dirty="0">
                <a:ln>
                  <a:noFill/>
                </a:ln>
                <a:solidFill>
                  <a:srgbClr val="1F1F1F"/>
                </a:solidFill>
                <a:effectLst/>
                <a:latin typeface="Google Sans Flex"/>
              </a:rPr>
              <a:t>,</a:t>
            </a:r>
            <a:r>
              <a:rPr kumimoji="0" lang="hi-IN" altLang="en-US" sz="1500" b="0" i="0" u="none" strike="noStrike" cap="none" normalizeH="0" dirty="0">
                <a:ln>
                  <a:noFill/>
                </a:ln>
                <a:solidFill>
                  <a:srgbClr val="1F1F1F"/>
                </a:solidFill>
                <a:effectLst/>
                <a:latin typeface="Google Sans Flex"/>
              </a:rPr>
              <a:t> </a:t>
            </a:r>
            <a:r>
              <a:rPr kumimoji="0" lang="en-US" altLang="en-US" sz="1500" b="0" i="0" u="none" strike="noStrike" cap="none" normalizeH="0" baseline="0" dirty="0">
                <a:ln>
                  <a:noFill/>
                </a:ln>
                <a:solidFill>
                  <a:srgbClr val="1F1F1F"/>
                </a:solidFill>
                <a:effectLst/>
                <a:latin typeface="Google Sans Flex"/>
              </a:rPr>
              <a:t>During second peak</a:t>
            </a:r>
            <a:r>
              <a:rPr kumimoji="0" lang="hi-IN" altLang="en-US" sz="1500" b="0" i="0" u="none" strike="noStrike" cap="none" normalizeH="0" baseline="0" dirty="0">
                <a:ln>
                  <a:noFill/>
                </a:ln>
                <a:solidFill>
                  <a:srgbClr val="1F1F1F"/>
                </a:solidFill>
                <a:effectLst/>
                <a:latin typeface="Google Sans Flex"/>
              </a:rPr>
              <a:t>,</a:t>
            </a:r>
            <a:r>
              <a:rPr kumimoji="0" lang="en-US" altLang="en-US" sz="1500" b="0" i="0" u="none" strike="noStrike" cap="none" normalizeH="0" baseline="0" dirty="0">
                <a:ln>
                  <a:noFill/>
                </a:ln>
                <a:solidFill>
                  <a:srgbClr val="1F1F1F"/>
                </a:solidFill>
                <a:effectLst/>
                <a:latin typeface="Google Sans Flex"/>
              </a:rPr>
              <a:t> if we offer enough categories to </a:t>
            </a:r>
            <a:r>
              <a:rPr kumimoji="0" lang="hi-IN" altLang="en-US" sz="1500" b="1" i="0" u="none" strike="noStrike" cap="none" normalizeH="0" baseline="0" dirty="0">
                <a:ln>
                  <a:noFill/>
                </a:ln>
                <a:solidFill>
                  <a:srgbClr val="1F1F1F"/>
                </a:solidFill>
                <a:effectLst/>
                <a:latin typeface="Google Sans Flex"/>
              </a:rPr>
              <a:t>complement</a:t>
            </a:r>
            <a:r>
              <a:rPr kumimoji="0" lang="hi-IN" altLang="en-US" sz="1500" b="1" i="0" u="none" strike="noStrike" cap="none" normalizeH="0" dirty="0">
                <a:ln>
                  <a:noFill/>
                </a:ln>
                <a:solidFill>
                  <a:srgbClr val="1F1F1F"/>
                </a:solidFill>
                <a:effectLst/>
                <a:latin typeface="Google Sans Flex"/>
              </a:rPr>
              <a:t> the lunch time</a:t>
            </a:r>
            <a:r>
              <a:rPr kumimoji="0" lang="hi-IN" altLang="en-US" sz="1500" b="0" i="0" u="none" strike="noStrike" cap="none" normalizeH="0" dirty="0">
                <a:ln>
                  <a:noFill/>
                </a:ln>
                <a:solidFill>
                  <a:srgbClr val="1F1F1F"/>
                </a:solidFill>
                <a:effectLst/>
                <a:latin typeface="Google Sans Flex"/>
              </a:rPr>
              <a:t>, </a:t>
            </a:r>
            <a:r>
              <a:rPr kumimoji="0" lang="en-US" altLang="en-US" sz="1500" b="0" i="0" u="none" strike="noStrike" cap="none" normalizeH="0" baseline="0" dirty="0">
                <a:ln>
                  <a:noFill/>
                </a:ln>
                <a:solidFill>
                  <a:srgbClr val="1F1F1F"/>
                </a:solidFill>
                <a:effectLst/>
                <a:latin typeface="Google Sans Flex"/>
              </a:rPr>
              <a:t>the satisfaction will rise. it's best we give a serious thought to our </a:t>
            </a:r>
            <a:r>
              <a:rPr kumimoji="0" lang="en-US" altLang="en-US" sz="1500" b="1" i="0" u="none" strike="noStrike" cap="none" normalizeH="0" baseline="0" dirty="0">
                <a:ln>
                  <a:noFill/>
                </a:ln>
                <a:solidFill>
                  <a:srgbClr val="1F1F1F"/>
                </a:solidFill>
                <a:effectLst/>
                <a:latin typeface="Google Sans Flex"/>
              </a:rPr>
              <a:t>8PM</a:t>
            </a:r>
            <a:r>
              <a:rPr kumimoji="0" lang="en-US" altLang="en-US" sz="1500" b="0" i="0" u="none" strike="noStrike" cap="none" normalizeH="0" baseline="0" dirty="0">
                <a:ln>
                  <a:noFill/>
                </a:ln>
                <a:solidFill>
                  <a:srgbClr val="1F1F1F"/>
                </a:solidFill>
                <a:effectLst/>
                <a:latin typeface="Google Sans Flex"/>
              </a:rPr>
              <a:t> business by either offering dinner option</a:t>
            </a:r>
            <a:r>
              <a:rPr kumimoji="0" lang="hi-IN" altLang="en-US" sz="1500" b="0" i="0" u="none" strike="noStrike" cap="none" normalizeH="0" baseline="0" dirty="0">
                <a:ln>
                  <a:noFill/>
                </a:ln>
                <a:solidFill>
                  <a:srgbClr val="1F1F1F"/>
                </a:solidFill>
                <a:effectLst/>
                <a:latin typeface="Google Sans Flex"/>
              </a:rPr>
              <a:t>s</a:t>
            </a:r>
            <a:r>
              <a:rPr kumimoji="0" lang="en-US" altLang="en-US" sz="1500" b="0" i="0" u="none" strike="noStrike" cap="none" normalizeH="0" baseline="0" dirty="0">
                <a:ln>
                  <a:noFill/>
                </a:ln>
                <a:solidFill>
                  <a:srgbClr val="1F1F1F"/>
                </a:solidFill>
                <a:effectLst/>
                <a:latin typeface="Google Sans Flex"/>
              </a:rPr>
              <a:t>, quick snacks to sustain the revenue or shut the store around these hours and increase our focus during morning </a:t>
            </a:r>
            <a:r>
              <a:rPr kumimoji="0" lang="hi-IN" altLang="en-US" sz="1500" b="0" i="0" u="none" strike="noStrike" cap="none" normalizeH="0" baseline="0" dirty="0">
                <a:ln>
                  <a:noFill/>
                </a:ln>
                <a:solidFill>
                  <a:srgbClr val="1F1F1F"/>
                </a:solidFill>
                <a:effectLst/>
                <a:latin typeface="Google Sans Flex"/>
              </a:rPr>
              <a:t>peak </a:t>
            </a:r>
            <a:r>
              <a:rPr kumimoji="0" lang="en-US" altLang="en-US" sz="1500" b="0" i="0" u="none" strike="noStrike" cap="none" normalizeH="0" baseline="0" dirty="0">
                <a:ln>
                  <a:noFill/>
                </a:ln>
                <a:solidFill>
                  <a:srgbClr val="1F1F1F"/>
                </a:solidFill>
                <a:effectLst/>
                <a:latin typeface="Google Sans Flex"/>
              </a:rPr>
              <a:t>hours.</a:t>
            </a:r>
            <a:endParaRPr kumimoji="0" lang="hi-IN" altLang="en-US" sz="1500" b="0" i="0" u="none" strike="noStrike" cap="none" normalizeH="0" baseline="0" dirty="0">
              <a:ln>
                <a:noFill/>
              </a:ln>
              <a:solidFill>
                <a:srgbClr val="1F1F1F"/>
              </a:solidFill>
              <a:effectLst/>
              <a:latin typeface="Google Sans Flex"/>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hi-IN" altLang="en-US" sz="1500" b="0" i="0" u="none" strike="noStrike" cap="none" normalizeH="0" baseline="0" dirty="0">
              <a:ln>
                <a:noFill/>
              </a:ln>
              <a:solidFill>
                <a:srgbClr val="1F1F1F"/>
              </a:solidFill>
              <a:effectLst/>
              <a:latin typeface="Google Sans Flex"/>
            </a:endParaRPr>
          </a:p>
          <a:p>
            <a:pPr marL="171450" lvl="0" indent="-171450" defTabSz="914400" eaLnBrk="0" fontAlgn="base" hangingPunct="0">
              <a:spcBef>
                <a:spcPct val="0"/>
              </a:spcBef>
              <a:spcAft>
                <a:spcPct val="0"/>
              </a:spcAft>
              <a:buFont typeface="Arial" panose="020B0604020202020204" pitchFamily="34" charset="0"/>
              <a:buChar char="•"/>
            </a:pPr>
            <a:r>
              <a:rPr lang="hi-IN" altLang="en-US" sz="1500" b="1" dirty="0">
                <a:solidFill>
                  <a:srgbClr val="1F1F1F"/>
                </a:solidFill>
                <a:latin typeface="Google Sans Flex"/>
              </a:rPr>
              <a:t>D</a:t>
            </a:r>
            <a:r>
              <a:rPr lang="en-US" altLang="en-US" sz="1500" b="1" dirty="0" err="1">
                <a:solidFill>
                  <a:srgbClr val="1F1F1F"/>
                </a:solidFill>
                <a:latin typeface="Google Sans Flex"/>
              </a:rPr>
              <a:t>istribution</a:t>
            </a:r>
            <a:r>
              <a:rPr lang="en-US" altLang="en-US" sz="1500" dirty="0">
                <a:solidFill>
                  <a:srgbClr val="1F1F1F"/>
                </a:solidFill>
                <a:latin typeface="Google Sans Flex"/>
              </a:rPr>
              <a:t>: Barista espresso, Brewed chai, </a:t>
            </a:r>
            <a:r>
              <a:rPr lang="hi-IN" altLang="en-US" sz="1500" dirty="0">
                <a:solidFill>
                  <a:srgbClr val="1F1F1F"/>
                </a:solidFill>
                <a:latin typeface="Google Sans Flex"/>
              </a:rPr>
              <a:t>Gourmet</a:t>
            </a:r>
            <a:r>
              <a:rPr lang="en-US" altLang="en-US" sz="1500" dirty="0">
                <a:solidFill>
                  <a:srgbClr val="1F1F1F"/>
                </a:solidFill>
                <a:latin typeface="Google Sans Flex"/>
              </a:rPr>
              <a:t> averaged above 25000 in distribution, followed by Brewed black tea, Brewed herbal tea, and hot chocolate averaging at 18000, last were drip coffee, Organic brewed , premium, Scone Averaging at 13000.</a:t>
            </a:r>
            <a:endParaRPr kumimoji="0" lang="en-US" altLang="en-US" sz="1500" b="0" i="0" u="none" strike="noStrike" cap="none" normalizeH="0" baseline="0" dirty="0">
              <a:ln>
                <a:noFill/>
              </a:ln>
              <a:solidFill>
                <a:srgbClr val="1F1F1F"/>
              </a:solidFill>
              <a:effectLst/>
              <a:latin typeface="Google Sans Flex"/>
            </a:endParaRPr>
          </a:p>
          <a:p>
            <a:pPr marR="0" lvl="0" algn="l" defTabSz="914400" rtl="0" eaLnBrk="0" fontAlgn="base" latinLnBrk="0" hangingPunct="0">
              <a:lnSpc>
                <a:spcPct val="100000"/>
              </a:lnSpc>
              <a:spcBef>
                <a:spcPct val="0"/>
              </a:spcBef>
              <a:spcAft>
                <a:spcPct val="0"/>
              </a:spcAft>
              <a:buClrTx/>
              <a:buSzTx/>
              <a:tabLst/>
            </a:pPr>
            <a:endParaRPr kumimoji="0" lang="en-US" altLang="en-US" sz="1500" b="0" i="0" u="none" strike="noStrike" cap="none" normalizeH="0" baseline="0" dirty="0">
              <a:ln>
                <a:noFill/>
              </a:ln>
              <a:solidFill>
                <a:srgbClr val="1F1F1F"/>
              </a:solidFill>
              <a:effectLst/>
              <a:latin typeface="Google Sans Flex"/>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hi-IN" altLang="en-US" sz="1500" b="1" dirty="0">
                <a:solidFill>
                  <a:srgbClr val="1F1F1F"/>
                </a:solidFill>
                <a:latin typeface="Google Sans Flex"/>
              </a:rPr>
              <a:t>C</a:t>
            </a:r>
            <a:r>
              <a:rPr kumimoji="0" lang="en-US" altLang="en-US" sz="1500" b="1" i="0" u="none" strike="noStrike" cap="none" normalizeH="0" baseline="0" dirty="0" err="1">
                <a:ln>
                  <a:noFill/>
                </a:ln>
                <a:solidFill>
                  <a:srgbClr val="1F1F1F"/>
                </a:solidFill>
                <a:effectLst/>
                <a:latin typeface="Google Sans Flex"/>
              </a:rPr>
              <a:t>offee</a:t>
            </a:r>
            <a:r>
              <a:rPr kumimoji="0" lang="en-US" altLang="en-US" sz="1500" b="1" i="0" u="none" strike="noStrike" cap="none" normalizeH="0" baseline="0" dirty="0">
                <a:ln>
                  <a:noFill/>
                </a:ln>
                <a:solidFill>
                  <a:srgbClr val="1F1F1F"/>
                </a:solidFill>
                <a:effectLst/>
                <a:latin typeface="Google Sans Flex"/>
              </a:rPr>
              <a:t> and tea </a:t>
            </a:r>
            <a:r>
              <a:rPr kumimoji="0" lang="en-US" altLang="en-US" sz="1500" b="0" i="0" u="none" strike="noStrike" cap="none" normalizeH="0" baseline="0" dirty="0">
                <a:ln>
                  <a:noFill/>
                </a:ln>
                <a:solidFill>
                  <a:srgbClr val="1F1F1F"/>
                </a:solidFill>
                <a:effectLst/>
                <a:latin typeface="Google Sans Flex"/>
              </a:rPr>
              <a:t>had the highest business</a:t>
            </a:r>
            <a:r>
              <a:rPr kumimoji="0" lang="hi-IN" altLang="en-US" sz="1500" b="0" i="0" u="none" strike="noStrike" cap="none" normalizeH="0" baseline="0" dirty="0">
                <a:ln>
                  <a:noFill/>
                </a:ln>
                <a:solidFill>
                  <a:srgbClr val="1F1F1F"/>
                </a:solidFill>
                <a:effectLst/>
                <a:latin typeface="Google Sans Flex"/>
              </a:rPr>
              <a:t> distrubution share</a:t>
            </a:r>
            <a:r>
              <a:rPr kumimoji="0" lang="en-US" altLang="en-US" sz="1500" b="0" i="0" u="none" strike="noStrike" cap="none" normalizeH="0" baseline="0" dirty="0">
                <a:ln>
                  <a:noFill/>
                </a:ln>
                <a:solidFill>
                  <a:srgbClr val="1F1F1F"/>
                </a:solidFill>
                <a:effectLst/>
                <a:latin typeface="Google Sans Flex"/>
              </a:rPr>
              <a:t>, followed by bakery</a:t>
            </a:r>
            <a:r>
              <a:rPr kumimoji="0" lang="hi-IN" altLang="en-US" sz="1500" b="0" i="0" u="none" strike="noStrike" cap="none" normalizeH="0" baseline="0" dirty="0">
                <a:ln>
                  <a:noFill/>
                </a:ln>
                <a:solidFill>
                  <a:srgbClr val="1F1F1F"/>
                </a:solidFill>
                <a:effectLst/>
                <a:latin typeface="Google Sans Flex"/>
              </a:rPr>
              <a:t>,</a:t>
            </a:r>
            <a:r>
              <a:rPr kumimoji="0" lang="en-US" altLang="en-US" sz="1500" b="0" i="0" u="none" strike="noStrike" cap="none" normalizeH="0" baseline="0" dirty="0">
                <a:ln>
                  <a:noFill/>
                </a:ln>
                <a:solidFill>
                  <a:srgbClr val="1F1F1F"/>
                </a:solidFill>
                <a:effectLst/>
                <a:latin typeface="Google Sans Flex"/>
              </a:rPr>
              <a:t> drinking</a:t>
            </a:r>
            <a:r>
              <a:rPr kumimoji="0" lang="hi-IN" altLang="en-US" sz="1500" b="0" i="0" u="none" strike="noStrike" cap="none" normalizeH="0" baseline="0" dirty="0">
                <a:ln>
                  <a:noFill/>
                </a:ln>
                <a:solidFill>
                  <a:srgbClr val="1F1F1F"/>
                </a:solidFill>
                <a:effectLst/>
                <a:latin typeface="Google Sans Flex"/>
              </a:rPr>
              <a:t>,</a:t>
            </a:r>
            <a:r>
              <a:rPr kumimoji="0" lang="en-US" altLang="en-US" sz="1500" b="0" i="0" u="none" strike="noStrike" cap="none" normalizeH="0" baseline="0" dirty="0">
                <a:ln>
                  <a:noFill/>
                </a:ln>
                <a:solidFill>
                  <a:srgbClr val="1F1F1F"/>
                </a:solidFill>
                <a:effectLst/>
                <a:latin typeface="Google Sans Flex"/>
              </a:rPr>
              <a:t> chocolate and </a:t>
            </a:r>
            <a:r>
              <a:rPr kumimoji="0" lang="hi-IN" altLang="en-US" sz="1500" b="0" i="0" u="none" strike="noStrike" cap="none" normalizeH="0" baseline="0" dirty="0">
                <a:ln>
                  <a:noFill/>
                </a:ln>
                <a:solidFill>
                  <a:srgbClr val="1F1F1F"/>
                </a:solidFill>
                <a:effectLst/>
                <a:latin typeface="Google Sans Flex"/>
              </a:rPr>
              <a:t>flavours</a:t>
            </a:r>
            <a:r>
              <a:rPr kumimoji="0" lang="en-US" altLang="en-US" sz="1500" b="0" i="0" u="none" strike="noStrike" cap="none" normalizeH="0" baseline="0" dirty="0">
                <a:ln>
                  <a:noFill/>
                </a:ln>
                <a:solidFill>
                  <a:srgbClr val="1F1F1F"/>
                </a:solidFill>
                <a:effectLst/>
                <a:latin typeface="Google Sans Flex"/>
              </a:rPr>
              <a:t>. while top </a:t>
            </a:r>
            <a:r>
              <a:rPr kumimoji="0" lang="hi-IN" altLang="en-US" sz="1500" b="1" i="0" u="none" strike="noStrike" cap="none" normalizeH="0" baseline="0" dirty="0">
                <a:ln>
                  <a:noFill/>
                </a:ln>
                <a:solidFill>
                  <a:srgbClr val="1F1F1F"/>
                </a:solidFill>
                <a:effectLst/>
                <a:latin typeface="Google Sans Flex"/>
              </a:rPr>
              <a:t>two</a:t>
            </a:r>
            <a:r>
              <a:rPr kumimoji="0" lang="en-US" altLang="en-US" sz="1500" b="0" i="0" u="none" strike="noStrike" cap="none" normalizeH="0" baseline="0" dirty="0">
                <a:ln>
                  <a:noFill/>
                </a:ln>
                <a:solidFill>
                  <a:srgbClr val="1F1F1F"/>
                </a:solidFill>
                <a:effectLst/>
                <a:latin typeface="Google Sans Flex"/>
              </a:rPr>
              <a:t> stands above 70 thousand crucial mark, the bakery and drinking chocolate have scope to bring more business to the portfolio with current business standing around 20000, with right marketing at high demand area and promotional campaign at newly acquired area will increase the potential to reach 30000 mark. </a:t>
            </a:r>
            <a:endParaRPr kumimoji="0" lang="en-US" altLang="en-US" sz="1500" b="0" i="0" u="none" strike="noStrike" cap="none" normalizeH="0" baseline="0" dirty="0">
              <a:ln>
                <a:noFill/>
              </a:ln>
              <a:solidFill>
                <a:srgbClr val="1F1F1F"/>
              </a:solidFill>
              <a:effectLst/>
            </a:endParaRPr>
          </a:p>
        </p:txBody>
      </p:sp>
      <p:sp>
        <p:nvSpPr>
          <p:cNvPr id="6" name="TextBox 5">
            <a:extLst>
              <a:ext uri="{FF2B5EF4-FFF2-40B4-BE49-F238E27FC236}">
                <a16:creationId xmlns:a16="http://schemas.microsoft.com/office/drawing/2014/main" id="{7FEE305F-D631-AB45-1C3C-D9208ED3374D}"/>
              </a:ext>
            </a:extLst>
          </p:cNvPr>
          <p:cNvSpPr txBox="1"/>
          <p:nvPr/>
        </p:nvSpPr>
        <p:spPr>
          <a:xfrm>
            <a:off x="0" y="99183"/>
            <a:ext cx="12192000" cy="369332"/>
          </a:xfrm>
          <a:prstGeom prst="rect">
            <a:avLst/>
          </a:prstGeom>
          <a:solidFill>
            <a:schemeClr val="bg2">
              <a:lumMod val="90000"/>
            </a:schemeClr>
          </a:solidFill>
        </p:spPr>
        <p:txBody>
          <a:bodyPr wrap="square" rtlCol="0">
            <a:spAutoFit/>
          </a:bodyPr>
          <a:lstStyle/>
          <a:p>
            <a:r>
              <a:rPr lang="hi-IN" dirty="0"/>
              <a:t>Mozilla coffee: Sales analysis and Insights</a:t>
            </a:r>
            <a:endParaRPr lang="en-US" dirty="0"/>
          </a:p>
        </p:txBody>
      </p:sp>
    </p:spTree>
    <p:extLst>
      <p:ext uri="{BB962C8B-B14F-4D97-AF65-F5344CB8AC3E}">
        <p14:creationId xmlns:p14="http://schemas.microsoft.com/office/powerpoint/2010/main" val="2700860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397C544-A0B3-B72E-E00D-E068B3EA570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350" y="128204"/>
            <a:ext cx="9148287" cy="6617658"/>
          </a:xfrm>
        </p:spPr>
      </p:pic>
      <p:sp>
        <p:nvSpPr>
          <p:cNvPr id="6" name="TextBox 5">
            <a:extLst>
              <a:ext uri="{FF2B5EF4-FFF2-40B4-BE49-F238E27FC236}">
                <a16:creationId xmlns:a16="http://schemas.microsoft.com/office/drawing/2014/main" id="{4967D3BC-294F-8F32-66FC-63E7AE9D6E5B}"/>
              </a:ext>
            </a:extLst>
          </p:cNvPr>
          <p:cNvSpPr txBox="1"/>
          <p:nvPr/>
        </p:nvSpPr>
        <p:spPr>
          <a:xfrm>
            <a:off x="9507547" y="-8625"/>
            <a:ext cx="2615442" cy="6001643"/>
          </a:xfrm>
          <a:prstGeom prst="rect">
            <a:avLst/>
          </a:prstGeom>
          <a:noFill/>
        </p:spPr>
        <p:txBody>
          <a:bodyPr wrap="square" rtlCol="0">
            <a:spAutoFit/>
          </a:bodyPr>
          <a:lstStyle/>
          <a:p>
            <a:r>
              <a:rPr lang="hi-IN" sz="1600" dirty="0"/>
              <a:t>Data table had sales, city, rigion and date data along with ratings and quantity</a:t>
            </a:r>
          </a:p>
          <a:p>
            <a:endParaRPr lang="hi-IN" sz="1600" dirty="0"/>
          </a:p>
          <a:p>
            <a:r>
              <a:rPr lang="hi-IN" sz="1600" dirty="0"/>
              <a:t>Removed duplicates, chaged formating using power query.</a:t>
            </a:r>
          </a:p>
          <a:p>
            <a:endParaRPr lang="hi-IN" sz="1600" dirty="0"/>
          </a:p>
          <a:p>
            <a:r>
              <a:rPr lang="hi-IN" sz="1600" dirty="0"/>
              <a:t>With the help of pivot table made table to draw insights on dashboard</a:t>
            </a:r>
          </a:p>
          <a:p>
            <a:endParaRPr lang="hi-IN" sz="1600" dirty="0"/>
          </a:p>
          <a:p>
            <a:r>
              <a:rPr lang="hi-IN" sz="1600" dirty="0"/>
              <a:t>The Dashboard shows sales data devided into regions, cities, month and weekdays.</a:t>
            </a:r>
          </a:p>
          <a:p>
            <a:r>
              <a:rPr lang="hi-IN" sz="1600" dirty="0"/>
              <a:t>North is bringing most of the sales followed by south. People ordered most on Saturdays. August, May and Jan are the peak sales month</a:t>
            </a:r>
          </a:p>
        </p:txBody>
      </p:sp>
    </p:spTree>
    <p:extLst>
      <p:ext uri="{BB962C8B-B14F-4D97-AF65-F5344CB8AC3E}">
        <p14:creationId xmlns:p14="http://schemas.microsoft.com/office/powerpoint/2010/main" val="3254274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8D56462-EFCA-507A-CFFA-E262BA86C8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130" y="69012"/>
            <a:ext cx="9523564" cy="6702724"/>
          </a:xfrm>
        </p:spPr>
      </p:pic>
    </p:spTree>
    <p:extLst>
      <p:ext uri="{BB962C8B-B14F-4D97-AF65-F5344CB8AC3E}">
        <p14:creationId xmlns:p14="http://schemas.microsoft.com/office/powerpoint/2010/main" val="2769253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15EFCD9-7226-4016-FCE6-A05079989A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971" y="69014"/>
            <a:ext cx="9523229" cy="6737230"/>
          </a:xfrm>
        </p:spPr>
      </p:pic>
    </p:spTree>
    <p:extLst>
      <p:ext uri="{BB962C8B-B14F-4D97-AF65-F5344CB8AC3E}">
        <p14:creationId xmlns:p14="http://schemas.microsoft.com/office/powerpoint/2010/main" val="3878787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06301B89-F3E1-22F6-42A5-85DBEE55657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638" y="86264"/>
            <a:ext cx="9677823" cy="6685472"/>
          </a:xfrm>
        </p:spPr>
      </p:pic>
    </p:spTree>
    <p:extLst>
      <p:ext uri="{BB962C8B-B14F-4D97-AF65-F5344CB8AC3E}">
        <p14:creationId xmlns:p14="http://schemas.microsoft.com/office/powerpoint/2010/main" val="201268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4DEE980-9FB2-596D-40BC-1B695D98500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641" y="86263"/>
            <a:ext cx="9778551" cy="6676845"/>
          </a:xfrm>
        </p:spPr>
      </p:pic>
    </p:spTree>
    <p:extLst>
      <p:ext uri="{BB962C8B-B14F-4D97-AF65-F5344CB8AC3E}">
        <p14:creationId xmlns:p14="http://schemas.microsoft.com/office/powerpoint/2010/main" val="13926293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TM03090434[[fn=Wood Type]]</Template>
  <TotalTime>123</TotalTime>
  <Words>586</Words>
  <Application>Microsoft Office PowerPoint</Application>
  <PresentationFormat>Widescreen</PresentationFormat>
  <Paragraphs>32</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Google Sans Flex</vt:lpstr>
      <vt:lpstr>Rockwell</vt:lpstr>
      <vt:lpstr>Rockwell Condensed</vt:lpstr>
      <vt:lpstr>Wingdings</vt:lpstr>
      <vt:lpstr>Wood Type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Dharma Raghuvanshi</dc:creator>
  <cp:lastModifiedBy>Dharma Raghuvanshi</cp:lastModifiedBy>
  <cp:revision>1</cp:revision>
  <dcterms:created xsi:type="dcterms:W3CDTF">2026-08-10T06:38:13Z</dcterms:created>
  <dcterms:modified xsi:type="dcterms:W3CDTF">2026-08-10T08:41:24Z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